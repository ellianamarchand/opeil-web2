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4"/>
  </p:notesMasterIdLst>
  <p:handoutMasterIdLst>
    <p:handoutMasterId r:id="rId5"/>
  </p:handoutMasterIdLst>
  <p:sldIdLst>
    <p:sldId id="256" r:id="rId3"/>
  </p:sldIdLst>
  <p:sldSz cx="40233600" cy="32918400"/>
  <p:notesSz cx="7010400" cy="92964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26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2B"/>
    <a:srgbClr val="274B6D"/>
    <a:srgbClr val="198CCC"/>
    <a:srgbClr val="EAEAEA"/>
    <a:srgbClr val="99CCFF"/>
    <a:srgbClr val="CC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988" autoAdjust="0"/>
    <p:restoredTop sz="86395" autoAdjust="0"/>
  </p:normalViewPr>
  <p:slideViewPr>
    <p:cSldViewPr snapToGrid="0">
      <p:cViewPr>
        <p:scale>
          <a:sx n="30" d="100"/>
          <a:sy n="30" d="100"/>
        </p:scale>
        <p:origin x="16" y="-192"/>
      </p:cViewPr>
      <p:guideLst>
        <p:guide orient="horz" pos="10368"/>
        <p:guide pos="126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95" d="100"/>
          <a:sy n="95" d="100"/>
        </p:scale>
        <p:origin x="4664" y="20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1C0B079-A316-4C9B-B165-DF9EA8325D2C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OSIRIS-REx Science Team Meeting V Poster Session ● October 24,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A0EAE6-B4B6-49B7-9049-B371250BE0F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6639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8F28AB8-57D1-494F-9851-055AD867E790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87500" y="1162050"/>
            <a:ext cx="38354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OSIRIS-REx Science Team Meeting V Poster Session ● October 24,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7C7F044-5458-4B2E-BFA0-52AAA1C529D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863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OSIRIS-REx Science Team Meeting V Poster Session ● October 24, 2013</a:t>
            </a:r>
          </a:p>
        </p:txBody>
      </p:sp>
    </p:spTree>
    <p:extLst>
      <p:ext uri="{BB962C8B-B14F-4D97-AF65-F5344CB8AC3E}">
        <p14:creationId xmlns:p14="http://schemas.microsoft.com/office/powerpoint/2010/main" val="82823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w/ Multiple Heading Sty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57773">
            <a:off x="12994924" y="10217670"/>
            <a:ext cx="15389364" cy="1683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Instructions"/>
          <p:cNvSpPr/>
          <p:nvPr userDrawn="1"/>
        </p:nvSpPr>
        <p:spPr>
          <a:xfrm>
            <a:off x="40610793" y="-1"/>
            <a:ext cx="11409998" cy="3291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This poster is designed to be printed on a large-format printer. </a:t>
            </a:r>
          </a:p>
          <a:p>
            <a:pPr lvl="0">
              <a:spcBef>
                <a:spcPts val="1200"/>
              </a:spcBef>
            </a:pPr>
            <a:endParaRPr lang="en-US" sz="66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built-in dimensions are 44” wide by 36” high. Dimensions can be changed under File &gt; Page Setup.</a:t>
            </a:r>
          </a:p>
          <a:p>
            <a:pPr lvl="0">
              <a:spcBef>
                <a:spcPts val="300"/>
              </a:spcBef>
            </a:pPr>
            <a:endParaRPr sz="60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368686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Feel free to add, remove, or rearrange boxes as suits your poster’s needs. Boxes can be re-aligned and/or evenly spaced with one another via Arrange &gt; Align or Distribute. </a:t>
            </a:r>
          </a:p>
          <a:p>
            <a:pPr lvl="0">
              <a:spcBef>
                <a:spcPts val="1200"/>
              </a:spcBef>
            </a:pPr>
            <a:endParaRPr lang="en-US" sz="66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Each box contains formatted text placeholders (bullets optional) and icons that can be clicked to 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add a table, chart, SmartArt graphic, picture or multimedia file. Images can also be pasted or dragged in.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151006" y="6769575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3" name="Content Placeholder 17"/>
          <p:cNvSpPr>
            <a:spLocks noGrp="1"/>
          </p:cNvSpPr>
          <p:nvPr>
            <p:ph sz="quarter" idx="43" hasCustomPrompt="1"/>
          </p:nvPr>
        </p:nvSpPr>
        <p:spPr>
          <a:xfrm>
            <a:off x="1151006" y="8191800"/>
            <a:ext cx="11734800" cy="3006640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44" hasCustomPrompt="1"/>
          </p:nvPr>
        </p:nvSpPr>
        <p:spPr>
          <a:xfrm>
            <a:off x="1151006" y="12229470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9" name="Content Placeholder 17"/>
          <p:cNvSpPr>
            <a:spLocks noGrp="1"/>
          </p:cNvSpPr>
          <p:nvPr>
            <p:ph sz="quarter" idx="45" hasCustomPrompt="1"/>
          </p:nvPr>
        </p:nvSpPr>
        <p:spPr>
          <a:xfrm>
            <a:off x="1151006" y="13651695"/>
            <a:ext cx="11734800" cy="6147055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46" hasCustomPrompt="1"/>
          </p:nvPr>
        </p:nvSpPr>
        <p:spPr>
          <a:xfrm>
            <a:off x="1151006" y="20809902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1" name="Content Placeholder 17"/>
          <p:cNvSpPr>
            <a:spLocks noGrp="1"/>
          </p:cNvSpPr>
          <p:nvPr>
            <p:ph sz="quarter" idx="47" hasCustomPrompt="1"/>
          </p:nvPr>
        </p:nvSpPr>
        <p:spPr>
          <a:xfrm>
            <a:off x="1151006" y="22232127"/>
            <a:ext cx="11734800" cy="8579179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48" hasCustomPrompt="1"/>
          </p:nvPr>
        </p:nvSpPr>
        <p:spPr>
          <a:xfrm>
            <a:off x="14811237" y="6769575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4" name="Content Placeholder 17"/>
          <p:cNvSpPr>
            <a:spLocks noGrp="1"/>
          </p:cNvSpPr>
          <p:nvPr>
            <p:ph sz="quarter" idx="49" hasCustomPrompt="1"/>
          </p:nvPr>
        </p:nvSpPr>
        <p:spPr>
          <a:xfrm>
            <a:off x="14811237" y="8191800"/>
            <a:ext cx="11734800" cy="3006640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50" hasCustomPrompt="1"/>
          </p:nvPr>
        </p:nvSpPr>
        <p:spPr>
          <a:xfrm>
            <a:off x="14811237" y="12222844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2" name="Content Placeholder 17"/>
          <p:cNvSpPr>
            <a:spLocks noGrp="1"/>
          </p:cNvSpPr>
          <p:nvPr>
            <p:ph sz="quarter" idx="51" hasCustomPrompt="1"/>
          </p:nvPr>
        </p:nvSpPr>
        <p:spPr>
          <a:xfrm>
            <a:off x="14811237" y="13645068"/>
            <a:ext cx="11734800" cy="3450238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3" name="Text Placeholder 6"/>
          <p:cNvSpPr>
            <a:spLocks noGrp="1"/>
          </p:cNvSpPr>
          <p:nvPr>
            <p:ph type="body" sz="quarter" idx="52" hasCustomPrompt="1"/>
          </p:nvPr>
        </p:nvSpPr>
        <p:spPr>
          <a:xfrm>
            <a:off x="14811237" y="18258858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4" name="Content Placeholder 17"/>
          <p:cNvSpPr>
            <a:spLocks noGrp="1"/>
          </p:cNvSpPr>
          <p:nvPr>
            <p:ph sz="quarter" idx="53" hasCustomPrompt="1"/>
          </p:nvPr>
        </p:nvSpPr>
        <p:spPr>
          <a:xfrm>
            <a:off x="14811237" y="19679481"/>
            <a:ext cx="11734800" cy="11125199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5" name="Text Placeholder 6"/>
          <p:cNvSpPr>
            <a:spLocks noGrp="1"/>
          </p:cNvSpPr>
          <p:nvPr>
            <p:ph type="body" sz="quarter" idx="54" hasCustomPrompt="1"/>
          </p:nvPr>
        </p:nvSpPr>
        <p:spPr>
          <a:xfrm>
            <a:off x="27642378" y="6769575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6" name="Content Placeholder 17"/>
          <p:cNvSpPr>
            <a:spLocks noGrp="1"/>
          </p:cNvSpPr>
          <p:nvPr>
            <p:ph sz="quarter" idx="55" hasCustomPrompt="1"/>
          </p:nvPr>
        </p:nvSpPr>
        <p:spPr>
          <a:xfrm>
            <a:off x="27642378" y="8191800"/>
            <a:ext cx="11734800" cy="3450238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8" name="Text Placeholder 6"/>
          <p:cNvSpPr>
            <a:spLocks noGrp="1"/>
          </p:cNvSpPr>
          <p:nvPr>
            <p:ph type="body" sz="quarter" idx="57" hasCustomPrompt="1"/>
          </p:nvPr>
        </p:nvSpPr>
        <p:spPr>
          <a:xfrm>
            <a:off x="27642378" y="12534269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0" name="Content Placeholder 17"/>
          <p:cNvSpPr>
            <a:spLocks noGrp="1"/>
          </p:cNvSpPr>
          <p:nvPr>
            <p:ph sz="quarter" idx="58" hasCustomPrompt="1"/>
          </p:nvPr>
        </p:nvSpPr>
        <p:spPr>
          <a:xfrm>
            <a:off x="27642378" y="14059198"/>
            <a:ext cx="11734800" cy="16839902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59" hasCustomPrompt="1"/>
          </p:nvPr>
        </p:nvSpPr>
        <p:spPr>
          <a:xfrm>
            <a:off x="4854575" y="4019550"/>
            <a:ext cx="34785300" cy="11620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6000" baseline="0">
                <a:solidFill>
                  <a:schemeClr val="bg1"/>
                </a:solidFill>
                <a:latin typeface="Calibri" pitchFamily="34" charset="0"/>
              </a:defRPr>
            </a:lvl1pPr>
            <a:lvl2pPr marL="640080" indent="0">
              <a:buFontTx/>
              <a:buNone/>
              <a:defRPr/>
            </a:lvl2pPr>
            <a:lvl3pPr marL="640080" indent="0">
              <a:buFontTx/>
              <a:buNone/>
              <a:defRPr/>
            </a:lvl3pPr>
            <a:lvl4pPr marL="640080" indent="0">
              <a:buFontTx/>
              <a:buNone/>
              <a:defRPr/>
            </a:lvl4pPr>
            <a:lvl5pPr marL="640080" indent="0">
              <a:buFontTx/>
              <a:buNone/>
              <a:defRPr/>
            </a:lvl5pPr>
          </a:lstStyle>
          <a:p>
            <a:pPr lvl="0"/>
            <a:r>
              <a:rPr lang="en-US" dirty="0"/>
              <a:t>Presenter Name(s)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60" hasCustomPrompt="1"/>
          </p:nvPr>
        </p:nvSpPr>
        <p:spPr>
          <a:xfrm>
            <a:off x="5122335" y="5219700"/>
            <a:ext cx="34517542" cy="800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000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Presenter Institutions(s)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61" hasCustomPrompt="1"/>
          </p:nvPr>
        </p:nvSpPr>
        <p:spPr>
          <a:xfrm>
            <a:off x="4665074" y="2201006"/>
            <a:ext cx="32113538" cy="15875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1500" cap="small" baseline="0">
                <a:solidFill>
                  <a:srgbClr val="274B6D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Title of the Poster</a:t>
            </a:r>
          </a:p>
        </p:txBody>
      </p:sp>
    </p:spTree>
    <p:extLst>
      <p:ext uri="{BB962C8B-B14F-4D97-AF65-F5344CB8AC3E}">
        <p14:creationId xmlns:p14="http://schemas.microsoft.com/office/powerpoint/2010/main" val="3027495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04" userDrawn="1">
          <p15:clr>
            <a:srgbClr val="A4A3A4"/>
          </p15:clr>
        </p15:guide>
        <p15:guide id="2" pos="1694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w/ Single Heading Sty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57773">
            <a:off x="13053698" y="10264562"/>
            <a:ext cx="15389364" cy="1683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Instructions"/>
          <p:cNvSpPr/>
          <p:nvPr userDrawn="1"/>
        </p:nvSpPr>
        <p:spPr>
          <a:xfrm>
            <a:off x="40610793" y="-1"/>
            <a:ext cx="11409998" cy="3291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lvl="0">
              <a:spcBef>
                <a:spcPts val="1200"/>
              </a:spcBef>
            </a:pPr>
            <a:r>
              <a:rPr sz="9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Printing:</a:t>
            </a:r>
          </a:p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This poster is 48” wide by 36” high. It’s designed to be printed on a large-format printer.</a:t>
            </a:r>
          </a:p>
          <a:p>
            <a:pPr lvl="0">
              <a:spcBef>
                <a:spcPts val="300"/>
              </a:spcBef>
            </a:pPr>
            <a:endParaRPr sz="60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200"/>
              </a:spcBef>
            </a:pPr>
            <a:r>
              <a:rPr sz="88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Customizing the Content:</a:t>
            </a:r>
          </a:p>
          <a:p>
            <a:pPr lvl="0">
              <a:spcBef>
                <a:spcPts val="12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placeholders in this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poster 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are formatted for you.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Type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 the placeholders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to add text, or c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lick an icon to add a table, chart, SmartArt graphic, picture or multimedia file.</a:t>
            </a:r>
          </a:p>
          <a:p>
            <a:pPr lvl="0">
              <a:spcBef>
                <a:spcPts val="24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o add or remove bullet points from text, click the Bullets button on the Home tab.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If you need more placeholders for titles,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content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or body text, make a copy of what you need and drag it into place. PowerPoint’s Smart Guides will help you align it with everything else.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Want to use your own picture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s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instead of ours? No problem!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Just click a picture, press the Delete key, then click the icon to add your picture.</a:t>
            </a:r>
            <a:endParaRPr sz="66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Placeholder 6"/>
          <p:cNvSpPr>
            <a:spLocks noGrp="1"/>
          </p:cNvSpPr>
          <p:nvPr>
            <p:ph type="body" sz="quarter" idx="57" hasCustomPrompt="1"/>
          </p:nvPr>
        </p:nvSpPr>
        <p:spPr>
          <a:xfrm>
            <a:off x="1155258" y="6755261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6000" b="1" cap="small" spc="300" baseline="0">
                <a:solidFill>
                  <a:schemeClr val="bg1"/>
                </a:solidFill>
                <a:latin typeface="Calibri" pitchFamily="34" charset="0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0" name="Content Placeholder 17"/>
          <p:cNvSpPr>
            <a:spLocks noGrp="1"/>
          </p:cNvSpPr>
          <p:nvPr>
            <p:ph sz="quarter" idx="58" hasCustomPrompt="1"/>
          </p:nvPr>
        </p:nvSpPr>
        <p:spPr>
          <a:xfrm>
            <a:off x="1155258" y="8207038"/>
            <a:ext cx="11734800" cy="16839902"/>
          </a:xfrm>
        </p:spPr>
        <p:txBody>
          <a:bodyPr lIns="91440" tIns="182880"/>
          <a:lstStyle>
            <a:lvl1pPr>
              <a:defRPr sz="3200" baseline="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800">
                <a:latin typeface="Calibri" pitchFamily="34" charset="0"/>
              </a:defRPr>
            </a:lvl3pPr>
            <a:lvl4pPr>
              <a:defRPr sz="2800">
                <a:latin typeface="Calibri" pitchFamily="34" charset="0"/>
              </a:defRPr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59" hasCustomPrompt="1"/>
          </p:nvPr>
        </p:nvSpPr>
        <p:spPr>
          <a:xfrm>
            <a:off x="4854575" y="4019550"/>
            <a:ext cx="34785300" cy="11620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6000" baseline="0">
                <a:solidFill>
                  <a:schemeClr val="bg1"/>
                </a:solidFill>
                <a:latin typeface="Calibri" pitchFamily="34" charset="0"/>
              </a:defRPr>
            </a:lvl1pPr>
            <a:lvl2pPr marL="640080" indent="0">
              <a:buFontTx/>
              <a:buNone/>
              <a:defRPr/>
            </a:lvl2pPr>
            <a:lvl3pPr marL="640080" indent="0">
              <a:buFontTx/>
              <a:buNone/>
              <a:defRPr/>
            </a:lvl3pPr>
            <a:lvl4pPr marL="640080" indent="0">
              <a:buFontTx/>
              <a:buNone/>
              <a:defRPr/>
            </a:lvl4pPr>
            <a:lvl5pPr marL="640080" indent="0">
              <a:buFontTx/>
              <a:buNone/>
              <a:defRPr/>
            </a:lvl5pPr>
          </a:lstStyle>
          <a:p>
            <a:pPr lvl="0"/>
            <a:r>
              <a:rPr lang="en-US" dirty="0"/>
              <a:t>Presenter Name(s)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60" hasCustomPrompt="1"/>
          </p:nvPr>
        </p:nvSpPr>
        <p:spPr>
          <a:xfrm>
            <a:off x="5122335" y="5219700"/>
            <a:ext cx="34517542" cy="800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000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Presenter Institutions(s)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61" hasCustomPrompt="1"/>
          </p:nvPr>
        </p:nvSpPr>
        <p:spPr>
          <a:xfrm>
            <a:off x="4643685" y="2202469"/>
            <a:ext cx="32113538" cy="179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1500" cap="small" baseline="0">
                <a:solidFill>
                  <a:srgbClr val="274B6D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Title of the Poster</a:t>
            </a:r>
          </a:p>
        </p:txBody>
      </p:sp>
    </p:spTree>
    <p:extLst>
      <p:ext uri="{BB962C8B-B14F-4D97-AF65-F5344CB8AC3E}">
        <p14:creationId xmlns:p14="http://schemas.microsoft.com/office/powerpoint/2010/main" val="1235938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04" userDrawn="1">
          <p15:clr>
            <a:srgbClr val="A4A3A4"/>
          </p15:clr>
        </p15:guide>
        <p15:guide id="2" pos="16940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57773">
            <a:off x="13051005" y="10246748"/>
            <a:ext cx="15389364" cy="1683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Instructions"/>
          <p:cNvSpPr/>
          <p:nvPr userDrawn="1"/>
        </p:nvSpPr>
        <p:spPr>
          <a:xfrm>
            <a:off x="40729538" y="232244"/>
            <a:ext cx="11409998" cy="3291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lvl="0">
              <a:spcBef>
                <a:spcPts val="1200"/>
              </a:spcBef>
            </a:pPr>
            <a:r>
              <a:rPr sz="9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Printing:</a:t>
            </a:r>
          </a:p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This poster is 48” wide by 36” high. It’s designed to be printed on a large-format printer.</a:t>
            </a:r>
          </a:p>
          <a:p>
            <a:pPr lvl="0">
              <a:spcBef>
                <a:spcPts val="300"/>
              </a:spcBef>
            </a:pPr>
            <a:endParaRPr sz="60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200"/>
              </a:spcBef>
            </a:pPr>
            <a:r>
              <a:rPr sz="88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Customizing the Content:</a:t>
            </a:r>
          </a:p>
          <a:p>
            <a:pPr lvl="0">
              <a:spcBef>
                <a:spcPts val="12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placeholders in this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poster 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are formatted for you.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Type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 the placeholders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to add text, or c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lick an icon to add a table, chart, SmartArt graphic, picture or multimedia file.</a:t>
            </a:r>
          </a:p>
          <a:p>
            <a:pPr lvl="0">
              <a:spcBef>
                <a:spcPts val="24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o add or remove bullet points from text, click the Bullets button on the Home tab.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If you need more placeholders for titles,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content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or body text, make a copy of what you need and drag it into place. PowerPoint’s Smart Guides will help you align it with everything else.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Want to use your own picture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s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instead of ours? No problem!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Just click a picture, press the Delete key, then click the icon to add your picture.</a:t>
            </a:r>
            <a:endParaRPr sz="66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59" hasCustomPrompt="1"/>
          </p:nvPr>
        </p:nvSpPr>
        <p:spPr>
          <a:xfrm>
            <a:off x="4854575" y="4019550"/>
            <a:ext cx="34785300" cy="11620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6000" baseline="0">
                <a:solidFill>
                  <a:schemeClr val="bg1"/>
                </a:solidFill>
                <a:latin typeface="Calibri" pitchFamily="34" charset="0"/>
              </a:defRPr>
            </a:lvl1pPr>
            <a:lvl2pPr marL="640080" indent="0">
              <a:buFontTx/>
              <a:buNone/>
              <a:defRPr/>
            </a:lvl2pPr>
            <a:lvl3pPr marL="640080" indent="0">
              <a:buFontTx/>
              <a:buNone/>
              <a:defRPr/>
            </a:lvl3pPr>
            <a:lvl4pPr marL="640080" indent="0">
              <a:buFontTx/>
              <a:buNone/>
              <a:defRPr/>
            </a:lvl4pPr>
            <a:lvl5pPr marL="640080" indent="0">
              <a:buFontTx/>
              <a:buNone/>
              <a:defRPr/>
            </a:lvl5pPr>
          </a:lstStyle>
          <a:p>
            <a:pPr lvl="0"/>
            <a:r>
              <a:rPr lang="en-US" dirty="0"/>
              <a:t>Presenter Name(s)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60" hasCustomPrompt="1"/>
          </p:nvPr>
        </p:nvSpPr>
        <p:spPr>
          <a:xfrm>
            <a:off x="5122335" y="5219700"/>
            <a:ext cx="34517542" cy="800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000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Presenter Institutions(s)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61" hasCustomPrompt="1"/>
          </p:nvPr>
        </p:nvSpPr>
        <p:spPr>
          <a:xfrm>
            <a:off x="4643685" y="2202469"/>
            <a:ext cx="32113538" cy="179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1500" cap="small" baseline="0">
                <a:solidFill>
                  <a:srgbClr val="274B6D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Title of the Poster</a:t>
            </a:r>
          </a:p>
        </p:txBody>
      </p:sp>
    </p:spTree>
    <p:extLst>
      <p:ext uri="{BB962C8B-B14F-4D97-AF65-F5344CB8AC3E}">
        <p14:creationId xmlns:p14="http://schemas.microsoft.com/office/powerpoint/2010/main" val="145907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04" userDrawn="1">
          <p15:clr>
            <a:srgbClr val="A4A3A4"/>
          </p15:clr>
        </p15:guide>
        <p15:guide id="2" pos="16940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ndscap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nstructions"/>
          <p:cNvSpPr/>
          <p:nvPr userDrawn="1"/>
        </p:nvSpPr>
        <p:spPr>
          <a:xfrm>
            <a:off x="40729538" y="232244"/>
            <a:ext cx="11409998" cy="32918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lvl="0">
              <a:spcBef>
                <a:spcPts val="1200"/>
              </a:spcBef>
            </a:pPr>
            <a:r>
              <a:rPr sz="9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Printing:</a:t>
            </a:r>
          </a:p>
          <a:p>
            <a:pPr lvl="0">
              <a:spcBef>
                <a:spcPts val="12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This poster is 48” wide by 36” high. It’s designed to be printed on a large-format printer.</a:t>
            </a:r>
          </a:p>
          <a:p>
            <a:pPr lvl="0">
              <a:spcBef>
                <a:spcPts val="300"/>
              </a:spcBef>
            </a:pPr>
            <a:endParaRPr sz="60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  <a:p>
            <a:pPr lvl="0">
              <a:spcBef>
                <a:spcPts val="1200"/>
              </a:spcBef>
            </a:pPr>
            <a:r>
              <a:rPr sz="88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Customizing the Content:</a:t>
            </a:r>
          </a:p>
          <a:p>
            <a:pPr lvl="0">
              <a:spcBef>
                <a:spcPts val="12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The placeholders in this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poster 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are formatted for you.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Type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 the placeholders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to add text, or c</a:t>
            </a:r>
            <a:r>
              <a:rPr lang="en-US" sz="6600" baseline="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lick an icon to add a table, chart, SmartArt graphic, picture or multimedia file.</a:t>
            </a:r>
          </a:p>
          <a:p>
            <a:pPr lvl="0">
              <a:spcBef>
                <a:spcPts val="2400"/>
              </a:spcBef>
            </a:pP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o add or remove bullet points from text, click the Bullets button on the Home tab.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If you need more placeholders for titles, 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content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or body text, make a copy of what you need and drag it into place. PowerPoint’s Smart Guides will help you align it with everything else.</a:t>
            </a:r>
          </a:p>
          <a:p>
            <a:pPr lvl="0">
              <a:spcBef>
                <a:spcPts val="2400"/>
              </a:spcBef>
            </a:pP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Want to use your own picture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s</a:t>
            </a:r>
            <a:r>
              <a:rPr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instead of ours? No problem!</a:t>
            </a:r>
            <a:r>
              <a:rPr lang="en-US" sz="6600" dirty="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cs typeface="Calibri" panose="020F0502020204030204" pitchFamily="34" charset="0"/>
              </a:rPr>
              <a:t> Just click a picture, press the Delete key, then click the icon to add your picture.</a:t>
            </a:r>
            <a:endParaRPr sz="6600" dirty="0">
              <a:solidFill>
                <a:prstClr val="white">
                  <a:lumMod val="50000"/>
                </a:prstClr>
              </a:solidFill>
              <a:latin typeface="Calibri Light" panose="020F03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59" hasCustomPrompt="1"/>
          </p:nvPr>
        </p:nvSpPr>
        <p:spPr>
          <a:xfrm>
            <a:off x="4854575" y="4019550"/>
            <a:ext cx="34785300" cy="11620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6000" baseline="0">
                <a:solidFill>
                  <a:schemeClr val="bg1"/>
                </a:solidFill>
                <a:latin typeface="Calibri" pitchFamily="34" charset="0"/>
              </a:defRPr>
            </a:lvl1pPr>
            <a:lvl2pPr marL="640080" indent="0">
              <a:buFontTx/>
              <a:buNone/>
              <a:defRPr/>
            </a:lvl2pPr>
            <a:lvl3pPr marL="640080" indent="0">
              <a:buFontTx/>
              <a:buNone/>
              <a:defRPr/>
            </a:lvl3pPr>
            <a:lvl4pPr marL="640080" indent="0">
              <a:buFontTx/>
              <a:buNone/>
              <a:defRPr/>
            </a:lvl4pPr>
            <a:lvl5pPr marL="640080" indent="0">
              <a:buFontTx/>
              <a:buNone/>
              <a:defRPr/>
            </a:lvl5pPr>
          </a:lstStyle>
          <a:p>
            <a:pPr lvl="0"/>
            <a:r>
              <a:rPr lang="en-US" dirty="0"/>
              <a:t>Presenter Name(s)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60" hasCustomPrompt="1"/>
          </p:nvPr>
        </p:nvSpPr>
        <p:spPr>
          <a:xfrm>
            <a:off x="5122335" y="5219700"/>
            <a:ext cx="34517542" cy="800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000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Presenter Institutions(s)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61" hasCustomPrompt="1"/>
          </p:nvPr>
        </p:nvSpPr>
        <p:spPr>
          <a:xfrm>
            <a:off x="4643685" y="2202469"/>
            <a:ext cx="32113538" cy="179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1500" cap="small" baseline="0">
                <a:solidFill>
                  <a:srgbClr val="274B6D"/>
                </a:solidFill>
                <a:latin typeface="Calibri" pitchFamily="34" charset="0"/>
              </a:defRPr>
            </a:lvl1pPr>
          </a:lstStyle>
          <a:p>
            <a:pPr lvl="0"/>
            <a:r>
              <a:rPr lang="en-US" dirty="0"/>
              <a:t>Title of the Poster</a:t>
            </a:r>
          </a:p>
        </p:txBody>
      </p:sp>
    </p:spTree>
    <p:extLst>
      <p:ext uri="{BB962C8B-B14F-4D97-AF65-F5344CB8AC3E}">
        <p14:creationId xmlns:p14="http://schemas.microsoft.com/office/powerpoint/2010/main" val="3284774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404" userDrawn="1">
          <p15:clr>
            <a:srgbClr val="A4A3A4"/>
          </p15:clr>
        </p15:guide>
        <p15:guide id="2" pos="16940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4784725" y="4031488"/>
            <a:ext cx="34994850" cy="2286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600" b="0" baseline="30000" dirty="0">
              <a:latin typeface="Calibri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623536" y="1459578"/>
            <a:ext cx="32319595" cy="26288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Title of the Poster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1720" y="7277101"/>
            <a:ext cx="38124130" cy="22372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910555" y="3840480"/>
            <a:ext cx="34611720" cy="0"/>
          </a:xfrm>
          <a:prstGeom prst="line">
            <a:avLst/>
          </a:prstGeom>
          <a:ln w="76200">
            <a:solidFill>
              <a:schemeClr val="tx2">
                <a:lumMod val="75000"/>
              </a:schemeClr>
            </a:solidFill>
          </a:ln>
          <a:effectLst>
            <a:glow rad="101600">
              <a:schemeClr val="tx1">
                <a:lumMod val="65000"/>
                <a:lumOff val="35000"/>
                <a:alpha val="50000"/>
              </a:schemeClr>
            </a:glow>
            <a:outerShdw blurRad="50800" dist="38100" dir="2700000" algn="tl" rotWithShape="0">
              <a:schemeClr val="tx1">
                <a:lumMod val="75000"/>
                <a:lumOff val="25000"/>
                <a:alpha val="43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40" y="630450"/>
            <a:ext cx="3010210" cy="321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0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2" r:id="rId3"/>
    <p:sldLayoutId id="2147483675" r:id="rId4"/>
  </p:sldLayoutIdLst>
  <p:hf sldNum="0" hdr="0" dt="0"/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11500" b="0" kern="1200" cap="small" baseline="0">
          <a:solidFill>
            <a:srgbClr val="274B6D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660" userDrawn="1">
          <p15:clr>
            <a:srgbClr val="A4A3A4"/>
          </p15:clr>
        </p15:guide>
        <p15:guide id="3" pos="24684" userDrawn="1">
          <p15:clr>
            <a:srgbClr val="A4A3A4"/>
          </p15:clr>
        </p15:guide>
        <p15:guide id="4" pos="12672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3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Specific heat (at constant pressure) </a:t>
            </a:r>
            <a:r>
              <a:rPr lang="en-US" sz="3000" i="1" dirty="0" err="1"/>
              <a:t>c</a:t>
            </a:r>
            <a:r>
              <a:rPr lang="en-US" sz="3000" i="1" baseline="-25000" dirty="0" err="1"/>
              <a:t>P</a:t>
            </a:r>
            <a:r>
              <a:rPr lang="en-US" sz="3000" dirty="0"/>
              <a:t> depends on temperature and the mineralogic composition of a sample. It is important [1, 2] to know for the construction of accurate thermophysical models asteroid </a:t>
            </a:r>
            <a:r>
              <a:rPr lang="en-US" sz="3000" dirty="0" err="1"/>
              <a:t>Bennu</a:t>
            </a:r>
            <a:r>
              <a:rPr lang="en-US" sz="3000" dirty="0"/>
              <a:t>, where often only the composite quantity of thermal inertia                 </a:t>
            </a:r>
            <a:br>
              <a:rPr lang="en-US" sz="3000" dirty="0"/>
            </a:br>
            <a:r>
              <a:rPr lang="en-US" sz="3000" dirty="0"/>
              <a:t>is cited, where </a:t>
            </a:r>
            <a:r>
              <a:rPr lang="en-US" sz="3000" i="1" dirty="0"/>
              <a:t>ρ</a:t>
            </a:r>
            <a:r>
              <a:rPr lang="en-US" sz="3000" dirty="0"/>
              <a:t> is bulk density, </a:t>
            </a:r>
            <a:r>
              <a:rPr lang="en-US" sz="3000" i="1" dirty="0"/>
              <a:t>k</a:t>
            </a:r>
            <a:r>
              <a:rPr lang="en-US" sz="3000" dirty="0"/>
              <a:t> thermal conductivity.</a:t>
            </a:r>
            <a:br>
              <a:rPr lang="en-US" sz="3000" dirty="0"/>
            </a:br>
            <a:r>
              <a:rPr lang="en-US" sz="3000" dirty="0"/>
              <a:t>Knowledge of </a:t>
            </a:r>
            <a:r>
              <a:rPr lang="en-US" sz="3000" i="1" dirty="0" err="1"/>
              <a:t>c</a:t>
            </a:r>
            <a:r>
              <a:rPr lang="en-US" sz="3000" i="1" baseline="-25000" dirty="0" err="1"/>
              <a:t>P</a:t>
            </a:r>
            <a:r>
              <a:rPr lang="en-US" sz="3000" dirty="0"/>
              <a:t>(T) of the samples from </a:t>
            </a:r>
            <a:r>
              <a:rPr lang="en-US" sz="3000" dirty="0" err="1"/>
              <a:t>Bennu</a:t>
            </a:r>
            <a:r>
              <a:rPr lang="en-US" sz="3000" dirty="0"/>
              <a:t> is critical for comparing them to thermal inertia values determined remotely from orbit (e.g., [3]). Here we report the results of differential scanning calorimetry (DSC) on a sample of </a:t>
            </a:r>
            <a:r>
              <a:rPr lang="en-US" sz="3000" dirty="0" err="1"/>
              <a:t>Bennu</a:t>
            </a:r>
            <a:r>
              <a:rPr lang="en-US" sz="3000" dirty="0"/>
              <a:t> from 210 K to 450 K. Overlapping low-temperature data (2–300 K) is presented in detail by [4].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4"/>
          </p:nvPr>
        </p:nvSpPr>
        <p:spPr>
          <a:xfrm>
            <a:off x="1151006" y="13665415"/>
            <a:ext cx="11734800" cy="1280160"/>
          </a:xfrm>
        </p:spPr>
        <p:txBody>
          <a:bodyPr/>
          <a:lstStyle/>
          <a:p>
            <a:r>
              <a:rPr lang="de-DE" dirty="0"/>
              <a:t>SAMPLES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45"/>
          </p:nvPr>
        </p:nvSpPr>
        <p:spPr>
          <a:xfrm>
            <a:off x="1151006" y="15418180"/>
            <a:ext cx="11734800" cy="61470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first performed trials with a powdered test sample, OREX-803121-0 (14.372 ± 0.001 mg), consisting of (loose, unsorted) material that may not necessarily be exactly representative of the sample collection as a whole and with mineralogy that has not been characterized. We optimized the measurement procedure and the drying protocol with his sample. </a:t>
            </a:r>
          </a:p>
          <a:p>
            <a:r>
              <a:rPr lang="en-US" dirty="0"/>
              <a:t>We then measured our definitive sample, OREX-803224-0 (13.804 ± 0.001 mg), a subset of a well-characterized (XRD), homogenized powder OREX-800107-0 that was produced from grinding &gt;6 g of mixed </a:t>
            </a:r>
            <a:r>
              <a:rPr lang="en-US" dirty="0" err="1"/>
              <a:t>Bennu</a:t>
            </a:r>
            <a:r>
              <a:rPr lang="en-US" dirty="0"/>
              <a:t> material for bulk analyses [5]. </a:t>
            </a:r>
          </a:p>
          <a:p>
            <a:r>
              <a:rPr lang="en-US" dirty="0"/>
              <a:t>The sample, in powder form, was containerized in aluminum calorimetry sample pans and left unsealed to allow </a:t>
            </a:r>
            <a:r>
              <a:rPr lang="en-US" dirty="0" err="1"/>
              <a:t>physisorbed</a:t>
            </a:r>
            <a:r>
              <a:rPr lang="en-US" dirty="0"/>
              <a:t> water to evaporate and diffuse out into the dry purging gas (N</a:t>
            </a:r>
            <a:r>
              <a:rPr lang="en-US" baseline="-25000" dirty="0"/>
              <a:t>2</a:t>
            </a:r>
            <a:r>
              <a:rPr lang="en-US" dirty="0"/>
              <a:t> with a purity of 99.99% plus a dehumidifier connected between the gas tank and DSC device to eliminate any residual humidity in the purge gas)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6"/>
          </p:nvPr>
        </p:nvSpPr>
        <p:spPr>
          <a:xfrm>
            <a:off x="1151006" y="22479149"/>
            <a:ext cx="11734800" cy="1280160"/>
          </a:xfrm>
        </p:spPr>
        <p:txBody>
          <a:bodyPr/>
          <a:lstStyle/>
          <a:p>
            <a:r>
              <a:rPr lang="de-DE" dirty="0"/>
              <a:t>Methods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7"/>
          </p:nvPr>
        </p:nvSpPr>
        <p:spPr>
          <a:xfrm>
            <a:off x="1151006" y="24122920"/>
            <a:ext cx="11734800" cy="857917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instrument is a power-compensated Perkin Elmer DSC 8000 measurement system with Intercooler II as cooling system and N</a:t>
            </a:r>
            <a:r>
              <a:rPr lang="en-US" baseline="-25000" dirty="0"/>
              <a:t>2</a:t>
            </a:r>
            <a:r>
              <a:rPr lang="en-US" dirty="0"/>
              <a:t> as purging gas. Reference samples for calibration were sapphire (corundum, α-Al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3</a:t>
            </a:r>
            <a:r>
              <a:rPr lang="en-US" dirty="0"/>
              <a:t>) disks. The measurement procedure is the three-curve technique (empty, reference, sample) and uses the step-scan method of [</a:t>
            </a:r>
            <a:r>
              <a:rPr lang="en-US" dirty="0" err="1"/>
              <a:t>MRaw</a:t>
            </a:r>
            <a:r>
              <a:rPr lang="en-US" dirty="0"/>
              <a:t>, in 6]  to eliminate most systematic instrument drifts. </a:t>
            </a:r>
          </a:p>
          <a:p>
            <a:r>
              <a:rPr lang="en-US" dirty="0"/>
              <a:t>Samples were heated and kept at 130° C (403.15 K) while purged in N</a:t>
            </a:r>
            <a:r>
              <a:rPr lang="en-US" baseline="-25000" dirty="0"/>
              <a:t>2</a:t>
            </a:r>
            <a:r>
              <a:rPr lang="en-US" dirty="0"/>
              <a:t> for 120 min to evaporate any adsorbed water before starting the measurements. We discovered that water adsorption on </a:t>
            </a:r>
            <a:r>
              <a:rPr lang="en-US" dirty="0" err="1"/>
              <a:t>Bennu</a:t>
            </a:r>
            <a:r>
              <a:rPr lang="en-US" dirty="0"/>
              <a:t> samples is a very critical issue. The sample mass changes significantly by about 4%, and the dried sample quickly reabsorbs water, with a time constant of ~30 minutes in laboratory air of relative humidity 46%. Even a residual terrestrial water contamination of only 0.2–0.4% is non-negligible, considering the high specific heat (~4200 J/K/kg) and specific enthalpies of sublimation or vaporization of ~2.7∙10</a:t>
            </a:r>
            <a:r>
              <a:rPr lang="en-US" baseline="30000" dirty="0"/>
              <a:t>6</a:t>
            </a:r>
            <a:r>
              <a:rPr lang="en-US" dirty="0"/>
              <a:t> J/kg of H</a:t>
            </a:r>
            <a:r>
              <a:rPr lang="en-US" baseline="-25000" dirty="0"/>
              <a:t>2</a:t>
            </a:r>
            <a:r>
              <a:rPr lang="en-US" dirty="0"/>
              <a:t>O. DSC </a:t>
            </a:r>
            <a:r>
              <a:rPr lang="en-US" i="1" dirty="0" err="1"/>
              <a:t>c</a:t>
            </a:r>
            <a:r>
              <a:rPr lang="en-US" i="1" baseline="-25000" dirty="0" err="1"/>
              <a:t>P</a:t>
            </a:r>
            <a:r>
              <a:rPr lang="en-US" dirty="0"/>
              <a:t> or  heat flux measurements for were performed from –50° C to 560°C (high temperature range). Temperatures  &gt; </a:t>
            </a:r>
            <a:r>
              <a:rPr lang="en-US" dirty="0">
                <a:sym typeface="Symbol Tiger" panose="05050102010706020507" pitchFamily="18" charset="2"/>
              </a:rPr>
              <a:t></a:t>
            </a:r>
            <a:r>
              <a:rPr lang="en-US" dirty="0"/>
              <a:t>450 K  entailed irreversible decomposition with mass loss.</a:t>
            </a:r>
          </a:p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9"/>
          </p:nvPr>
        </p:nvSpPr>
        <p:spPr>
          <a:xfrm>
            <a:off x="14811237" y="8191799"/>
            <a:ext cx="3803010" cy="3599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Figure 1. Specific heat of OREX-803224-0, 3-450 K: DSC data (red) and for comparison, the low-temperature data from [4] and a global fit (green curve) are shown. The accuracy is of the order of 1%.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50"/>
          </p:nvPr>
        </p:nvSpPr>
        <p:spPr>
          <a:xfrm>
            <a:off x="14684159" y="13681305"/>
            <a:ext cx="11734800" cy="1280160"/>
          </a:xfrm>
        </p:spPr>
        <p:txBody>
          <a:bodyPr/>
          <a:lstStyle/>
          <a:p>
            <a:r>
              <a:rPr lang="de-DE" dirty="0"/>
              <a:t>High </a:t>
            </a:r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52"/>
          </p:nvPr>
        </p:nvSpPr>
        <p:spPr>
          <a:xfrm>
            <a:off x="14811237" y="24120833"/>
            <a:ext cx="11734800" cy="1280160"/>
          </a:xfrm>
        </p:spPr>
        <p:txBody>
          <a:bodyPr/>
          <a:lstStyle/>
          <a:p>
            <a:r>
              <a:rPr lang="de-DE" dirty="0" err="1"/>
              <a:t>discussion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53"/>
          </p:nvPr>
        </p:nvSpPr>
        <p:spPr>
          <a:xfrm>
            <a:off x="14799356" y="25810788"/>
            <a:ext cx="11904224" cy="61761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was a surprise how rapidly the samples adsorbed water once in a normal (RF 26..46 %) laboratory atmosphere for handling, and how long it took to remove this physiosorbed water. Otherwise, the specific heat of </a:t>
            </a:r>
            <a:r>
              <a:rPr lang="en-US" dirty="0" err="1"/>
              <a:t>Bennu</a:t>
            </a:r>
            <a:r>
              <a:rPr lang="en-US" dirty="0"/>
              <a:t> in the temperature range investigated looks similar to some carbonaceous chondrite meteorites such as </a:t>
            </a:r>
            <a:r>
              <a:rPr lang="en-US" dirty="0" err="1"/>
              <a:t>Aguas</a:t>
            </a:r>
            <a:r>
              <a:rPr lang="en-US" dirty="0"/>
              <a:t> </a:t>
            </a:r>
            <a:r>
              <a:rPr lang="en-US" dirty="0" err="1"/>
              <a:t>Zarcas</a:t>
            </a:r>
            <a:r>
              <a:rPr lang="en-US" dirty="0"/>
              <a:t> (CM) [7], Tagish Lake (C2 ungrouped), and </a:t>
            </a:r>
            <a:r>
              <a:rPr lang="en-US" dirty="0" err="1"/>
              <a:t>Orgueil</a:t>
            </a:r>
            <a:r>
              <a:rPr lang="en-US" dirty="0"/>
              <a:t> (CI) (both from [1], in vacuum, i.e. “dry”). We will also compare observed specific heat with its theoretical value based on the mineralogical composition, following [8]. </a:t>
            </a:r>
          </a:p>
          <a:p>
            <a:r>
              <a:rPr lang="en-US" dirty="0"/>
              <a:t>Please note the companion abstract [4] on the low-temperature (3–to ~300 K) </a:t>
            </a:r>
            <a:r>
              <a:rPr lang="en-US" i="1" dirty="0" err="1"/>
              <a:t>c</a:t>
            </a:r>
            <a:r>
              <a:rPr lang="en-US" i="1" baseline="-25000" dirty="0" err="1"/>
              <a:t>P</a:t>
            </a:r>
            <a:r>
              <a:rPr lang="en-US" dirty="0"/>
              <a:t> measurements using a sample from the same batch as OREX-803224-0. In the near future, the results of [4] and this study will be synthesized and compared to the expected values based modal mineralogy from XRD and organics analyses – our preliminary </a:t>
            </a:r>
            <a:r>
              <a:rPr lang="en-US" u="sng" dirty="0"/>
              <a:t>absolute</a:t>
            </a:r>
            <a:r>
              <a:rPr lang="en-US" dirty="0"/>
              <a:t> “average inventory” of </a:t>
            </a:r>
            <a:r>
              <a:rPr lang="en-US" dirty="0" err="1"/>
              <a:t>Bennu</a:t>
            </a:r>
            <a:r>
              <a:rPr lang="en-US" dirty="0"/>
              <a:t> minerals is shown in table 1.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54"/>
          </p:nvPr>
        </p:nvSpPr>
        <p:spPr>
          <a:xfrm>
            <a:off x="27781862" y="14239561"/>
            <a:ext cx="11734800" cy="1280160"/>
          </a:xfrm>
        </p:spPr>
        <p:txBody>
          <a:bodyPr/>
          <a:lstStyle/>
          <a:p>
            <a:r>
              <a:rPr lang="de-DE" dirty="0" err="1"/>
              <a:t>Noteworthy</a:t>
            </a:r>
            <a:r>
              <a:rPr lang="de-DE" dirty="0"/>
              <a:t> </a:t>
            </a:r>
            <a:r>
              <a:rPr lang="de-DE" dirty="0" err="1"/>
              <a:t>anomalies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55"/>
          </p:nvPr>
        </p:nvSpPr>
        <p:spPr>
          <a:xfrm>
            <a:off x="27642378" y="15910901"/>
            <a:ext cx="11734800" cy="442634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Our DSC </a:t>
            </a:r>
            <a:r>
              <a:rPr lang="en-US" i="1" dirty="0" err="1"/>
              <a:t>c</a:t>
            </a:r>
            <a:r>
              <a:rPr lang="en-US" i="1" baseline="-25000" dirty="0" err="1"/>
              <a:t>P</a:t>
            </a:r>
            <a:r>
              <a:rPr lang="en-US" dirty="0"/>
              <a:t>  data show no detectable transitions or other anomalies (peaks, kinks) from 210 K to 450 K. The PPMS data overlap the DSC data presented here in the temperature range ~210 to ~280 K. At low temperatures, in the PPMS data, the Verwey transition lambda peak, diagnostic for magnetite Fe</a:t>
            </a:r>
            <a:r>
              <a:rPr lang="en-US" baseline="-25000" dirty="0"/>
              <a:t>3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, is seen at 122.0±0.5 K. Its amplitude is 38.5+/-3.8 J/kg/K, or 10% of the lattice specific heat [4]; quite similar peaks in specific heat have been observed in Tagish Lake and </a:t>
            </a:r>
            <a:r>
              <a:rPr lang="en-US" dirty="0" err="1"/>
              <a:t>Tarda</a:t>
            </a:r>
            <a:r>
              <a:rPr lang="en-US" dirty="0"/>
              <a:t> meteorite samples (</a:t>
            </a:r>
            <a:r>
              <a:rPr lang="en-US" dirty="0" err="1"/>
              <a:t>Piqueux</a:t>
            </a:r>
            <a:r>
              <a:rPr lang="en-US" dirty="0"/>
              <a:t>, Vu et al. 2021). [1]. The transition temperature depends on stoichiometry; our observed value is consistent [9] with </a:t>
            </a:r>
            <a:r>
              <a:rPr lang="el-GR" dirty="0"/>
              <a:t>δ</a:t>
            </a:r>
            <a:r>
              <a:rPr lang="de-DE" dirty="0"/>
              <a:t>=0 in Fe</a:t>
            </a:r>
            <a:r>
              <a:rPr lang="de-DE" baseline="-25000" dirty="0"/>
              <a:t>3(1-</a:t>
            </a:r>
            <a:r>
              <a:rPr lang="el-GR" baseline="-25000" dirty="0"/>
              <a:t> δ</a:t>
            </a:r>
            <a:r>
              <a:rPr lang="de-DE" baseline="-25000" dirty="0"/>
              <a:t>)</a:t>
            </a:r>
            <a:r>
              <a:rPr lang="de-DE" dirty="0"/>
              <a:t>O</a:t>
            </a:r>
            <a:r>
              <a:rPr lang="de-DE" baseline="-25000" dirty="0"/>
              <a:t>4 .</a:t>
            </a:r>
            <a:endParaRPr lang="en-US" baseline="-25000" dirty="0"/>
          </a:p>
          <a:p>
            <a:r>
              <a:rPr lang="de-DE" dirty="0"/>
              <a:t>A</a:t>
            </a:r>
            <a:r>
              <a:rPr lang="en-US" dirty="0"/>
              <a:t> </a:t>
            </a:r>
            <a:r>
              <a:rPr lang="en-US" dirty="0" err="1"/>
              <a:t>Besnus</a:t>
            </a:r>
            <a:r>
              <a:rPr lang="en-US" dirty="0"/>
              <a:t> transition at ~32 K for pyrrhotite is not detectable in the </a:t>
            </a:r>
            <a:r>
              <a:rPr lang="en-US" i="1" dirty="0" err="1"/>
              <a:t>c</a:t>
            </a:r>
            <a:r>
              <a:rPr lang="en-US" i="1" baseline="-25000" dirty="0" err="1"/>
              <a:t>P</a:t>
            </a:r>
            <a:r>
              <a:rPr lang="en-US" dirty="0"/>
              <a:t>  data , which is inconsistent with ~10 w-% 4C monoclinic Fe</a:t>
            </a:r>
            <a:r>
              <a:rPr lang="en-US" baseline="-25000" dirty="0"/>
              <a:t>7</a:t>
            </a:r>
            <a:r>
              <a:rPr lang="en-US" dirty="0"/>
              <a:t>S</a:t>
            </a:r>
            <a:r>
              <a:rPr lang="en-US" baseline="-25000" dirty="0"/>
              <a:t>8</a:t>
            </a:r>
            <a:r>
              <a:rPr lang="en-US" dirty="0"/>
              <a:t> pyrrhotite! Either </a:t>
            </a:r>
            <a:r>
              <a:rPr lang="en-US" dirty="0" err="1"/>
              <a:t>Bennu</a:t>
            </a:r>
            <a:r>
              <a:rPr lang="en-US" dirty="0"/>
              <a:t> pyrrhotite is not monoclinic or in a 5C* superstructure or the Ni-content suppresses this magnetic anomaly for most of </a:t>
            </a:r>
            <a:r>
              <a:rPr lang="en-US" dirty="0" err="1"/>
              <a:t>Bennu's</a:t>
            </a:r>
            <a:r>
              <a:rPr lang="en-US" dirty="0"/>
              <a:t> pyrrhotite. Recent magnetization measurements also do not show any magnetization signal near 32 K, nor near 155 K where a Morin-type transition in </a:t>
            </a:r>
            <a:r>
              <a:rPr lang="en-US" i="1" dirty="0" err="1"/>
              <a:t>c</a:t>
            </a:r>
            <a:r>
              <a:rPr lang="en-US" i="1" baseline="-25000" dirty="0" err="1"/>
              <a:t>P</a:t>
            </a:r>
            <a:r>
              <a:rPr lang="en-US" dirty="0"/>
              <a:t> was observed [10]. 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57"/>
          </p:nvPr>
        </p:nvSpPr>
        <p:spPr>
          <a:xfrm>
            <a:off x="27642378" y="20399222"/>
            <a:ext cx="11734800" cy="1280160"/>
          </a:xfrm>
        </p:spPr>
        <p:txBody>
          <a:bodyPr/>
          <a:lstStyle/>
          <a:p>
            <a:r>
              <a:rPr lang="de-DE" dirty="0" err="1"/>
              <a:t>references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58"/>
          </p:nvPr>
        </p:nvSpPr>
        <p:spPr>
          <a:xfrm>
            <a:off x="27642378" y="21780078"/>
            <a:ext cx="11734800" cy="530902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[1] </a:t>
            </a:r>
            <a:r>
              <a:rPr lang="en-US" dirty="0" err="1"/>
              <a:t>Piqueux</a:t>
            </a:r>
            <a:r>
              <a:rPr lang="en-US" dirty="0"/>
              <a:t>, S., et al., Journal of Geophysical Research: Planets, 2021. 126(11): p. e2021JE007003.</a:t>
            </a:r>
          </a:p>
          <a:p>
            <a:pPr marL="0" indent="0">
              <a:buNone/>
            </a:pPr>
            <a:r>
              <a:rPr lang="en-US" dirty="0"/>
              <a:t>[2] </a:t>
            </a:r>
            <a:r>
              <a:rPr lang="en-US" dirty="0" err="1"/>
              <a:t>Opeil</a:t>
            </a:r>
            <a:r>
              <a:rPr lang="en-US" dirty="0"/>
              <a:t>, C., et al., Meteoritics &amp; Planetary Science, 2020. 55(8).</a:t>
            </a:r>
          </a:p>
          <a:p>
            <a:pPr marL="0" indent="0">
              <a:buNone/>
            </a:pPr>
            <a:r>
              <a:rPr lang="en-US" dirty="0"/>
              <a:t>[3] </a:t>
            </a:r>
            <a:r>
              <a:rPr lang="en-US" dirty="0" err="1"/>
              <a:t>Rozitis</a:t>
            </a:r>
            <a:r>
              <a:rPr lang="en-US" dirty="0"/>
              <a:t>, B., et al., Science Advances, 2020. 6(41): p. eabc3699, DOI: 10.1126/sciadv.abc3699.</a:t>
            </a:r>
          </a:p>
          <a:p>
            <a:pPr marL="0" indent="0">
              <a:buNone/>
            </a:pPr>
            <a:r>
              <a:rPr lang="en-US" dirty="0"/>
              <a:t>[4] </a:t>
            </a:r>
            <a:r>
              <a:rPr lang="en-US" dirty="0" err="1"/>
              <a:t>Opeil</a:t>
            </a:r>
            <a:r>
              <a:rPr lang="en-US" dirty="0"/>
              <a:t>, C.P., et al., in this conference. 2025, LPI contributions </a:t>
            </a:r>
          </a:p>
          <a:p>
            <a:pPr marL="0" indent="0">
              <a:buNone/>
            </a:pPr>
            <a:r>
              <a:rPr lang="en-US" dirty="0"/>
              <a:t>[5] </a:t>
            </a:r>
            <a:r>
              <a:rPr lang="en-US" dirty="0" err="1"/>
              <a:t>Glavin</a:t>
            </a:r>
            <a:r>
              <a:rPr lang="en-US" dirty="0"/>
              <a:t>, in this conference. 2025, LPI contributions  #1079</a:t>
            </a:r>
          </a:p>
          <a:p>
            <a:pPr marL="0" indent="0">
              <a:buNone/>
            </a:pPr>
            <a:r>
              <a:rPr lang="en-US" dirty="0"/>
              <a:t>[6] </a:t>
            </a:r>
            <a:r>
              <a:rPr lang="en-US" dirty="0" err="1"/>
              <a:t>Cezairliyan</a:t>
            </a:r>
            <a:r>
              <a:rPr lang="en-US" dirty="0"/>
              <a:t>, A., , and Ho, C.Y., eds. CINDAS Data Series on Material Properties, ed. A. </a:t>
            </a:r>
            <a:r>
              <a:rPr lang="en-US" dirty="0" err="1"/>
              <a:t>Cezairliyan</a:t>
            </a:r>
            <a:r>
              <a:rPr lang="en-US" dirty="0"/>
              <a:t> and C.Y. Ho. Vol. 1-2. 1988, Hemisphere Publishing: New York.</a:t>
            </a:r>
          </a:p>
          <a:p>
            <a:pPr marL="0" indent="0">
              <a:buNone/>
            </a:pPr>
            <a:r>
              <a:rPr lang="en-US" dirty="0"/>
              <a:t>[7] </a:t>
            </a:r>
            <a:r>
              <a:rPr lang="en-US" dirty="0" err="1"/>
              <a:t>Opeil</a:t>
            </a:r>
            <a:r>
              <a:rPr lang="en-US" dirty="0"/>
              <a:t>, C., et al., LPI Contributions, 2024. 3040: p. 1661.</a:t>
            </a:r>
          </a:p>
          <a:p>
            <a:pPr marL="0" indent="0">
              <a:buNone/>
            </a:pPr>
            <a:r>
              <a:rPr lang="en-US" dirty="0"/>
              <a:t>[8] Biele, J., et al., International Journal of </a:t>
            </a:r>
            <a:r>
              <a:rPr lang="en-US" dirty="0" err="1"/>
              <a:t>Thermophysics</a:t>
            </a:r>
            <a:r>
              <a:rPr lang="en-US" dirty="0"/>
              <a:t>, 2022. 43(9): p. 144, DOI: 10.1007/s10765-022-03046-5.</a:t>
            </a:r>
          </a:p>
          <a:p>
            <a:pPr marL="0" indent="0">
              <a:buNone/>
            </a:pPr>
            <a:r>
              <a:rPr lang="en-US" dirty="0"/>
              <a:t>[9] J. García and G. </a:t>
            </a:r>
            <a:r>
              <a:rPr lang="en-US" dirty="0" err="1"/>
              <a:t>Subías</a:t>
            </a:r>
            <a:r>
              <a:rPr lang="en-US" dirty="0"/>
              <a:t>,  The Verwey transition—a new perspective, J. Phys.: Condensed Matter 2004 Vol. 16 Issue 7 Pages R145</a:t>
            </a:r>
          </a:p>
          <a:p>
            <a:pPr marL="0" indent="0">
              <a:buNone/>
            </a:pPr>
            <a:r>
              <a:rPr lang="en-US" dirty="0"/>
              <a:t>[10] Haines, C.R. et al., American Mineralogist 2020 Vol. 105 Issue 9 Pages 1404-1411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59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u="sng" dirty="0"/>
              <a:t>J. Biele</a:t>
            </a:r>
            <a:r>
              <a:rPr lang="en-US" u="sng" baseline="30000" dirty="0"/>
              <a:t>1</a:t>
            </a:r>
            <a:r>
              <a:rPr lang="en-US" dirty="0"/>
              <a:t>, A. Alasli</a:t>
            </a:r>
            <a:r>
              <a:rPr lang="en-US" baseline="30000" dirty="0"/>
              <a:t>2</a:t>
            </a:r>
            <a:r>
              <a:rPr lang="en-US" dirty="0"/>
              <a:t>, H. Nagano</a:t>
            </a:r>
            <a:r>
              <a:rPr lang="en-US" baseline="30000" dirty="0"/>
              <a:t>2</a:t>
            </a:r>
            <a:r>
              <a:rPr lang="en-US" dirty="0"/>
              <a:t>, C. P. Opeil</a:t>
            </a:r>
            <a:r>
              <a:rPr lang="en-US" baseline="30000" dirty="0"/>
              <a:t>3,4</a:t>
            </a:r>
            <a:r>
              <a:rPr lang="en-US" dirty="0"/>
              <a:t>, A. King</a:t>
            </a:r>
            <a:r>
              <a:rPr lang="en-US" baseline="30000" dirty="0"/>
              <a:t>5</a:t>
            </a:r>
            <a:r>
              <a:rPr lang="en-US" dirty="0"/>
              <a:t>, A.J. Ryan</a:t>
            </a:r>
            <a:r>
              <a:rPr lang="en-US" baseline="30000" dirty="0"/>
              <a:t>6</a:t>
            </a:r>
            <a:r>
              <a:rPr lang="en-US" dirty="0"/>
              <a:t>, R-L. Ballouz</a:t>
            </a:r>
            <a:r>
              <a:rPr lang="en-US" baseline="30000" dirty="0"/>
              <a:t>6</a:t>
            </a:r>
            <a:r>
              <a:rPr lang="en-US" dirty="0"/>
              <a:t>, R. J. Macke</a:t>
            </a:r>
            <a:r>
              <a:rPr lang="en-US" baseline="30000" dirty="0"/>
              <a:t>4</a:t>
            </a:r>
            <a:r>
              <a:rPr lang="en-US" dirty="0"/>
              <a:t>, H. C. Connolly Jr.</a:t>
            </a:r>
            <a:r>
              <a:rPr lang="en-US" baseline="30000" dirty="0"/>
              <a:t>6,7,8</a:t>
            </a:r>
            <a:r>
              <a:rPr lang="en-US" dirty="0"/>
              <a:t>, D. S. Lauretta</a:t>
            </a:r>
            <a:r>
              <a:rPr lang="en-US" baseline="30000" dirty="0"/>
              <a:t>2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60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aseline="30000" dirty="0"/>
              <a:t>1</a:t>
            </a:r>
            <a:r>
              <a:rPr lang="en-US" dirty="0"/>
              <a:t>RB-MUSC, DLR German Aerospace Center, DLR, 51147 Cologne, Germany (jens.biele@dlr.de); </a:t>
            </a:r>
            <a:r>
              <a:rPr lang="en-US" baseline="30000" dirty="0"/>
              <a:t>2</a:t>
            </a:r>
            <a:r>
              <a:rPr lang="en-US" dirty="0"/>
              <a:t>Nagoya University, Department of Mechanical Systems Engineering, </a:t>
            </a:r>
            <a:r>
              <a:rPr lang="en-US" dirty="0" err="1"/>
              <a:t>Furo-cho</a:t>
            </a:r>
            <a:r>
              <a:rPr lang="en-US" dirty="0"/>
              <a:t>, Chikusa-</a:t>
            </a:r>
            <a:r>
              <a:rPr lang="en-US" dirty="0" err="1"/>
              <a:t>ku</a:t>
            </a:r>
            <a:r>
              <a:rPr lang="en-US" dirty="0"/>
              <a:t>, Nagoya, 464-8601, Japan; </a:t>
            </a:r>
            <a:r>
              <a:rPr lang="en-US" baseline="30000" dirty="0"/>
              <a:t>3</a:t>
            </a:r>
            <a:r>
              <a:rPr lang="en-US" dirty="0"/>
              <a:t>Vatican Observatory, V-00120, Vatican City State; </a:t>
            </a:r>
            <a:r>
              <a:rPr lang="en-US" baseline="30000" dirty="0"/>
              <a:t>4</a:t>
            </a:r>
            <a:r>
              <a:rPr lang="en-US" dirty="0"/>
              <a:t>Department of Physics, Boston College, Chestnut Hill, MA 02467, USA; </a:t>
            </a:r>
            <a:r>
              <a:rPr lang="en-US" baseline="30000" dirty="0"/>
              <a:t>5</a:t>
            </a:r>
            <a:r>
              <a:rPr lang="en-US" dirty="0"/>
              <a:t>Natural History Museum, Earth Sciences/Mineral and Planetary, Cromwell Road, London SW7 5BD, UK; </a:t>
            </a:r>
            <a:r>
              <a:rPr lang="en-US" baseline="30000" dirty="0"/>
              <a:t>6</a:t>
            </a:r>
            <a:r>
              <a:rPr lang="en-US" dirty="0"/>
              <a:t>Lunar and Planetary Laboratory, University of Arizona, Tucson, AZ 85721, USA; </a:t>
            </a:r>
            <a:r>
              <a:rPr lang="en-US" baseline="30000" dirty="0"/>
              <a:t>7</a:t>
            </a:r>
            <a:r>
              <a:rPr lang="en-US" dirty="0"/>
              <a:t>Department of Geology, Rowan University, Glassboro, NJ, USA; </a:t>
            </a:r>
            <a:r>
              <a:rPr lang="en-US" baseline="30000" dirty="0"/>
              <a:t>8</a:t>
            </a:r>
            <a:r>
              <a:rPr lang="en-US" dirty="0"/>
              <a:t>Department of Earth and Planetary Sciences, American Museum of Natural History, New York, NY, USA.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61"/>
          </p:nvPr>
        </p:nvSpPr>
        <p:spPr>
          <a:xfrm>
            <a:off x="4591878" y="1192185"/>
            <a:ext cx="34785300" cy="158750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9600" dirty="0"/>
              <a:t>THE SPECIFIC HEAT OF SAMPLES FROM ASTEROID (101955) BENNU</a:t>
            </a:r>
            <a:endParaRPr lang="en-US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50D6C0EA-01BD-41A3-B994-76C87450E61A}"/>
              </a:ext>
            </a:extLst>
          </p:cNvPr>
          <p:cNvSpPr txBox="1">
            <a:spLocks/>
          </p:cNvSpPr>
          <p:nvPr/>
        </p:nvSpPr>
        <p:spPr>
          <a:xfrm>
            <a:off x="27642378" y="27158054"/>
            <a:ext cx="11734800" cy="1280160"/>
          </a:xfrm>
          <a:prstGeom prst="rect">
            <a:avLst/>
          </a:prstGeom>
          <a:gradFill>
            <a:gsLst>
              <a:gs pos="30000">
                <a:srgbClr val="10112B"/>
              </a:gs>
              <a:gs pos="0">
                <a:srgbClr val="198CCC"/>
              </a:gs>
              <a:gs pos="70000">
                <a:srgbClr val="10112B"/>
              </a:gs>
              <a:gs pos="100000">
                <a:srgbClr val="198CCC"/>
              </a:gs>
            </a:gsLst>
            <a:lin ang="5400000" scaled="1"/>
          </a:gradFill>
          <a:ln w="57150">
            <a:solidFill>
              <a:schemeClr val="tx1"/>
            </a:solidFill>
          </a:ln>
        </p:spPr>
        <p:txBody>
          <a:bodyPr vert="horz" lIns="365760" tIns="45720" rIns="91440" bIns="45720" rtlCol="0" anchor="ctr">
            <a:noAutofit/>
          </a:bodyPr>
          <a:lstStyle>
            <a:lvl1pPr marL="0" indent="0" algn="ctr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b="1" kern="1200" cap="small" spc="300" baseline="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de-DE" dirty="0" err="1"/>
              <a:t>Acknowledgments</a:t>
            </a:r>
            <a:endParaRPr lang="en-US" dirty="0"/>
          </a:p>
        </p:txBody>
      </p:sp>
      <p:sp>
        <p:nvSpPr>
          <p:cNvPr id="35" name="Content Placeholder 14">
            <a:extLst>
              <a:ext uri="{FF2B5EF4-FFF2-40B4-BE49-F238E27FC236}">
                <a16:creationId xmlns:a16="http://schemas.microsoft.com/office/drawing/2014/main" id="{4070FDDC-2D31-428A-8402-63C70D7FDF27}"/>
              </a:ext>
            </a:extLst>
          </p:cNvPr>
          <p:cNvSpPr txBox="1">
            <a:spLocks/>
          </p:cNvSpPr>
          <p:nvPr/>
        </p:nvSpPr>
        <p:spPr>
          <a:xfrm>
            <a:off x="27642378" y="29519641"/>
            <a:ext cx="11734800" cy="2716691"/>
          </a:xfrm>
          <a:prstGeom prst="rect">
            <a:avLst/>
          </a:prstGeom>
        </p:spPr>
        <p:txBody>
          <a:bodyPr vert="horz" lIns="91440" tIns="182880" rIns="91440" bIns="45720" rtlCol="0">
            <a:normAutofit fontScale="92500"/>
          </a:bodyPr>
          <a:lstStyle>
            <a:lvl1pPr marL="45720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material is based upon work supported by NASA under Contract NNM10AA11C issued through the New Frontiers Program. We are grateful to the entire OSIRIS-</a:t>
            </a:r>
            <a:r>
              <a:rPr lang="en-US" dirty="0" err="1"/>
              <a:t>REx</a:t>
            </a:r>
            <a:r>
              <a:rPr lang="en-US" dirty="0"/>
              <a:t> Team for making the return of samples from </a:t>
            </a:r>
            <a:r>
              <a:rPr lang="en-US" dirty="0" err="1"/>
              <a:t>Bennu</a:t>
            </a:r>
            <a:r>
              <a:rPr lang="en-US" dirty="0"/>
              <a:t> possible. We particularly recognize the contributions of the Sample Analysis and Curation Teams in enabling this work. </a:t>
            </a:r>
          </a:p>
        </p:txBody>
      </p:sp>
      <p:pic>
        <p:nvPicPr>
          <p:cNvPr id="25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0783E00B-7047-4408-AB8B-32BC37D32C7C}"/>
              </a:ext>
            </a:extLst>
          </p:cNvPr>
          <p:cNvPicPr>
            <a:picLocks noGrp="1" noChangeAspect="1"/>
          </p:cNvPicPr>
          <p:nvPr>
            <p:ph sz="quarter" idx="5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5" b="2248"/>
          <a:stretch/>
        </p:blipFill>
        <p:spPr>
          <a:xfrm>
            <a:off x="14684159" y="14989021"/>
            <a:ext cx="11711038" cy="5763439"/>
          </a:xfrm>
          <a:prstGeom prst="rect">
            <a:avLst/>
          </a:prstGeom>
        </p:spPr>
      </p:pic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E036C121-3F66-4B41-8EFC-CB31CB20D1D0}"/>
              </a:ext>
            </a:extLst>
          </p:cNvPr>
          <p:cNvSpPr txBox="1">
            <a:spLocks/>
          </p:cNvSpPr>
          <p:nvPr/>
        </p:nvSpPr>
        <p:spPr>
          <a:xfrm>
            <a:off x="14799356" y="20711320"/>
            <a:ext cx="11734800" cy="2908097"/>
          </a:xfrm>
          <a:prstGeom prst="rect">
            <a:avLst/>
          </a:prstGeom>
        </p:spPr>
        <p:txBody>
          <a:bodyPr vert="horz" lIns="91440" tIns="182880" rIns="91440" bIns="45720" rtlCol="0">
            <a:normAutofit fontScale="85000" lnSpcReduction="10000"/>
          </a:bodyPr>
          <a:lstStyle>
            <a:lvl1pPr marL="45720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Figure 2. normalized DSC heat flow at high temperatures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de-DE" sz="3000" dirty="0" err="1"/>
              <a:t>Decomposition</a:t>
            </a:r>
            <a:r>
              <a:rPr lang="de-DE" sz="3000" dirty="0"/>
              <a:t> (?) </a:t>
            </a:r>
            <a:r>
              <a:rPr lang="de-DE" sz="3000" dirty="0" err="1"/>
              <a:t>seens</a:t>
            </a:r>
            <a:r>
              <a:rPr lang="de-DE" sz="3000" dirty="0"/>
              <a:t> </a:t>
            </a:r>
            <a:r>
              <a:rPr lang="de-DE" sz="3000" dirty="0" err="1"/>
              <a:t>to</a:t>
            </a:r>
            <a:r>
              <a:rPr lang="de-DE" sz="3000" dirty="0"/>
              <a:t> </a:t>
            </a:r>
            <a:r>
              <a:rPr lang="de-DE" sz="3000" dirty="0" err="1"/>
              <a:t>set</a:t>
            </a:r>
            <a:r>
              <a:rPr lang="de-DE" sz="3000" dirty="0"/>
              <a:t> in at 450..480 K (DSC </a:t>
            </a:r>
            <a:r>
              <a:rPr lang="de-DE" sz="3000" dirty="0" err="1"/>
              <a:t>baseline</a:t>
            </a:r>
            <a:r>
              <a:rPr lang="de-DE" sz="3000" dirty="0"/>
              <a:t> </a:t>
            </a:r>
            <a:r>
              <a:rPr lang="de-DE" sz="3000" dirty="0" err="1"/>
              <a:t>heat</a:t>
            </a:r>
            <a:r>
              <a:rPr lang="de-DE" sz="3000" dirty="0"/>
              <a:t> </a:t>
            </a:r>
            <a:r>
              <a:rPr lang="de-DE" sz="3000" dirty="0" err="1"/>
              <a:t>flow</a:t>
            </a:r>
            <a:r>
              <a:rPr lang="de-DE" sz="3000" dirty="0"/>
              <a:t> </a:t>
            </a:r>
            <a:r>
              <a:rPr lang="de-DE" sz="3000" dirty="0" err="1"/>
              <a:t>becomes</a:t>
            </a:r>
            <a:r>
              <a:rPr lang="de-DE" sz="3000" dirty="0"/>
              <a:t> </a:t>
            </a:r>
            <a:r>
              <a:rPr lang="de-DE" sz="3000" dirty="0" err="1"/>
              <a:t>strongly</a:t>
            </a:r>
            <a:r>
              <a:rPr lang="de-DE" sz="3000" dirty="0"/>
              <a:t> time-</a:t>
            </a:r>
            <a:r>
              <a:rPr lang="de-DE" sz="3000" dirty="0" err="1"/>
              <a:t>dependent</a:t>
            </a:r>
            <a:r>
              <a:rPr lang="de-DE" sz="3000" dirty="0"/>
              <a:t>) – </a:t>
            </a:r>
            <a:r>
              <a:rPr lang="de-DE" sz="3000" dirty="0" err="1"/>
              <a:t>maybe</a:t>
            </a:r>
            <a:r>
              <a:rPr lang="de-DE" sz="3000" dirty="0"/>
              <a:t> just </a:t>
            </a:r>
            <a:r>
              <a:rPr lang="de-DE" sz="3000" dirty="0" err="1"/>
              <a:t>smectite</a:t>
            </a:r>
            <a:r>
              <a:rPr lang="de-DE" sz="3000" dirty="0"/>
              <a:t> </a:t>
            </a:r>
            <a:r>
              <a:rPr lang="de-DE" sz="3000" dirty="0" err="1"/>
              <a:t>interlayer</a:t>
            </a:r>
            <a:r>
              <a:rPr lang="de-DE" sz="3000" dirty="0"/>
              <a:t> </a:t>
            </a:r>
            <a:r>
              <a:rPr lang="de-DE" sz="3000" dirty="0" err="1"/>
              <a:t>cation</a:t>
            </a:r>
            <a:r>
              <a:rPr lang="de-DE" sz="3000" dirty="0"/>
              <a:t> </a:t>
            </a:r>
            <a:r>
              <a:rPr lang="de-DE" sz="3000" dirty="0" err="1"/>
              <a:t>dehydration</a:t>
            </a:r>
            <a:r>
              <a:rPr lang="de-DE" sz="3000" dirty="0"/>
              <a:t>)</a:t>
            </a:r>
          </a:p>
          <a:p>
            <a:r>
              <a:rPr lang="de-DE" sz="3000" dirty="0"/>
              <a:t>Thus, </a:t>
            </a:r>
            <a:r>
              <a:rPr lang="en-US" sz="3000" i="1" dirty="0" err="1"/>
              <a:t>c</a:t>
            </a:r>
            <a:r>
              <a:rPr lang="en-US" sz="3000" i="1" baseline="-25000" dirty="0" err="1"/>
              <a:t>P</a:t>
            </a:r>
            <a:r>
              <a:rPr lang="de-DE" sz="3000" dirty="0"/>
              <a:t> </a:t>
            </a:r>
            <a:r>
              <a:rPr lang="de-DE" sz="3000" dirty="0" err="1"/>
              <a:t>as</a:t>
            </a:r>
            <a:r>
              <a:rPr lang="de-DE" sz="3000" dirty="0"/>
              <a:t> </a:t>
            </a:r>
            <a:r>
              <a:rPr lang="de-DE" sz="3000" dirty="0" err="1"/>
              <a:t>equilibrium</a:t>
            </a:r>
            <a:r>
              <a:rPr lang="de-DE" sz="3000" dirty="0"/>
              <a:t> </a:t>
            </a:r>
            <a:r>
              <a:rPr lang="de-DE" sz="3000" dirty="0" err="1"/>
              <a:t>property</a:t>
            </a:r>
            <a:r>
              <a:rPr lang="de-DE" sz="3000" dirty="0"/>
              <a:t> </a:t>
            </a:r>
            <a:r>
              <a:rPr lang="de-DE" sz="3000" dirty="0" err="1"/>
              <a:t>can</a:t>
            </a:r>
            <a:r>
              <a:rPr lang="de-DE" sz="3000" dirty="0"/>
              <a:t> </a:t>
            </a:r>
            <a:r>
              <a:rPr lang="de-DE" sz="3000" dirty="0" err="1"/>
              <a:t>only</a:t>
            </a:r>
            <a:r>
              <a:rPr lang="de-DE" sz="3000" dirty="0"/>
              <a:t> </a:t>
            </a:r>
            <a:r>
              <a:rPr lang="de-DE" sz="3000" dirty="0" err="1"/>
              <a:t>be</a:t>
            </a:r>
            <a:r>
              <a:rPr lang="de-DE" sz="3000" dirty="0"/>
              <a:t> </a:t>
            </a:r>
            <a:r>
              <a:rPr lang="de-DE" sz="3000" dirty="0" err="1"/>
              <a:t>defined</a:t>
            </a:r>
            <a:r>
              <a:rPr lang="de-DE" sz="3000" dirty="0"/>
              <a:t> </a:t>
            </a:r>
            <a:r>
              <a:rPr lang="de-DE" sz="3000" dirty="0" err="1"/>
              <a:t>up</a:t>
            </a:r>
            <a:r>
              <a:rPr lang="de-DE" sz="3000" dirty="0"/>
              <a:t> </a:t>
            </a:r>
            <a:r>
              <a:rPr lang="de-DE" sz="3000" dirty="0" err="1"/>
              <a:t>to</a:t>
            </a:r>
            <a:r>
              <a:rPr lang="de-DE" sz="3000" dirty="0"/>
              <a:t> ~450 K, </a:t>
            </a:r>
            <a:r>
              <a:rPr lang="de-DE" sz="3000" dirty="0" err="1"/>
              <a:t>maybe</a:t>
            </a:r>
            <a:r>
              <a:rPr lang="de-DE" sz="3000" dirty="0"/>
              <a:t> </a:t>
            </a:r>
            <a:r>
              <a:rPr lang="de-DE" sz="3000" dirty="0" err="1"/>
              <a:t>extrapolated</a:t>
            </a:r>
            <a:r>
              <a:rPr lang="de-DE" sz="3000" dirty="0"/>
              <a:t> </a:t>
            </a:r>
            <a:r>
              <a:rPr lang="de-DE" sz="3000" dirty="0" err="1"/>
              <a:t>to</a:t>
            </a:r>
            <a:r>
              <a:rPr lang="de-DE" sz="3000" dirty="0"/>
              <a:t> 500 K (TBC).</a:t>
            </a:r>
            <a:endParaRPr lang="en-US" sz="3000" dirty="0"/>
          </a:p>
        </p:txBody>
      </p:sp>
      <p:graphicFrame>
        <p:nvGraphicFramePr>
          <p:cNvPr id="11" name="Objekt 10">
            <a:extLst>
              <a:ext uri="{FF2B5EF4-FFF2-40B4-BE49-F238E27FC236}">
                <a16:creationId xmlns:a16="http://schemas.microsoft.com/office/drawing/2014/main" id="{C2361109-1BCD-4E63-8085-FB85919B2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057676"/>
              </p:ext>
            </p:extLst>
          </p:nvPr>
        </p:nvGraphicFramePr>
        <p:xfrm>
          <a:off x="10842094" y="9670206"/>
          <a:ext cx="1727922" cy="64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Equation" r:id="rId5" imgW="711000" imgH="266400" progId="Equation.DSMT4">
                  <p:embed/>
                </p:oleObj>
              </mc:Choice>
              <mc:Fallback>
                <p:oleObj name="Equation" r:id="rId5" imgW="7110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42094" y="9670206"/>
                        <a:ext cx="1727922" cy="647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Grafik 26">
            <a:extLst>
              <a:ext uri="{FF2B5EF4-FFF2-40B4-BE49-F238E27FC236}">
                <a16:creationId xmlns:a16="http://schemas.microsoft.com/office/drawing/2014/main" id="{4B67779C-02F3-49A7-86D4-C6A4C1A22137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8599" y="7859291"/>
            <a:ext cx="7385013" cy="55294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016F4A4D-7209-460B-A389-06E2B8299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041515"/>
              </p:ext>
            </p:extLst>
          </p:nvPr>
        </p:nvGraphicFramePr>
        <p:xfrm>
          <a:off x="27781863" y="6979321"/>
          <a:ext cx="6168415" cy="6620568"/>
        </p:xfrm>
        <a:graphic>
          <a:graphicData uri="http://schemas.openxmlformats.org/drawingml/2006/table">
            <a:tbl>
              <a:tblPr/>
              <a:tblGrid>
                <a:gridCol w="2810594">
                  <a:extLst>
                    <a:ext uri="{9D8B030D-6E8A-4147-A177-3AD203B41FA5}">
                      <a16:colId xmlns:a16="http://schemas.microsoft.com/office/drawing/2014/main" val="1195715818"/>
                    </a:ext>
                  </a:extLst>
                </a:gridCol>
                <a:gridCol w="495416">
                  <a:extLst>
                    <a:ext uri="{9D8B030D-6E8A-4147-A177-3AD203B41FA5}">
                      <a16:colId xmlns:a16="http://schemas.microsoft.com/office/drawing/2014/main" val="3845220336"/>
                    </a:ext>
                  </a:extLst>
                </a:gridCol>
                <a:gridCol w="414466">
                  <a:extLst>
                    <a:ext uri="{9D8B030D-6E8A-4147-A177-3AD203B41FA5}">
                      <a16:colId xmlns:a16="http://schemas.microsoft.com/office/drawing/2014/main" val="2754062777"/>
                    </a:ext>
                  </a:extLst>
                </a:gridCol>
                <a:gridCol w="608747">
                  <a:extLst>
                    <a:ext uri="{9D8B030D-6E8A-4147-A177-3AD203B41FA5}">
                      <a16:colId xmlns:a16="http://schemas.microsoft.com/office/drawing/2014/main" val="2998640505"/>
                    </a:ext>
                  </a:extLst>
                </a:gridCol>
                <a:gridCol w="621698">
                  <a:extLst>
                    <a:ext uri="{9D8B030D-6E8A-4147-A177-3AD203B41FA5}">
                      <a16:colId xmlns:a16="http://schemas.microsoft.com/office/drawing/2014/main" val="1164378790"/>
                    </a:ext>
                  </a:extLst>
                </a:gridCol>
                <a:gridCol w="608747">
                  <a:extLst>
                    <a:ext uri="{9D8B030D-6E8A-4147-A177-3AD203B41FA5}">
                      <a16:colId xmlns:a16="http://schemas.microsoft.com/office/drawing/2014/main" val="3454057962"/>
                    </a:ext>
                  </a:extLst>
                </a:gridCol>
                <a:gridCol w="608747">
                  <a:extLst>
                    <a:ext uri="{9D8B030D-6E8A-4147-A177-3AD203B41FA5}">
                      <a16:colId xmlns:a16="http://schemas.microsoft.com/office/drawing/2014/main" val="2816087817"/>
                    </a:ext>
                  </a:extLst>
                </a:gridCol>
              </a:tblGrid>
              <a:tr h="415319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mineral</a:t>
                      </a: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composition</a:t>
                      </a: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: OREX-800107-103 (XRD-PSD); </a:t>
                      </a:r>
                      <a:r>
                        <a:rPr lang="de-DE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data</a:t>
                      </a: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: </a:t>
                      </a:r>
                      <a:r>
                        <a:rPr lang="de-DE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preliminary</a:t>
                      </a:r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estimations</a:t>
                      </a:r>
                      <a:endParaRPr lang="de-DE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9673305"/>
                  </a:ext>
                </a:extLst>
              </a:tr>
              <a:tr h="61791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Phase, empirical formula if estimation available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XRD wt%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abs wt%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std wt%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density (g/cm³)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std density (g/cm³)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851965"/>
                  </a:ext>
                </a:extLst>
              </a:tr>
              <a:tr h="202595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1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Phyllosilicates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68.9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64.70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56962"/>
                  </a:ext>
                </a:extLst>
              </a:tr>
              <a:tr h="178283"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Mostly lizardite?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63.08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2.584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913806"/>
                  </a:ext>
                </a:extLst>
              </a:tr>
              <a:tr h="192465"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Few percent saponite ?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517848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Hydrate/interlayer water H</a:t>
                      </a:r>
                      <a:r>
                        <a:rPr lang="en-US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 (up to 4 wt%)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651074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Magnetite, Fe</a:t>
                      </a:r>
                      <a:r>
                        <a:rPr lang="it-IT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2.98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Cr</a:t>
                      </a:r>
                      <a:r>
                        <a:rPr lang="it-IT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(Ca,Mg,Ti,P,Si)</a:t>
                      </a:r>
                      <a:r>
                        <a:rPr lang="it-IT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</a:t>
                      </a:r>
                      <a:r>
                        <a:rPr lang="it-IT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11.9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11.17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5.200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012033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Pyrrhotite Fe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0.859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Ni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0.016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10.7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4.610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293585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Pentlandite (Fe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4.4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Ni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4.6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)S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9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186713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Dolomite CaMg(CO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)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2.868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959784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Calcite CaCO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2.711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789279"/>
                  </a:ext>
                </a:extLst>
              </a:tr>
              <a:tr h="26337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Olivine (Mg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0.96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Fe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0.04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)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  <a:r>
                        <a:rPr lang="de-DE" sz="1100" b="0" i="1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solid solution</a:t>
                      </a:r>
                      <a:endParaRPr lang="de-DE" sz="1100" b="0" i="1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2.35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3.275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382770"/>
                  </a:ext>
                </a:extLst>
              </a:tr>
              <a:tr h="263373"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Forsterite Mg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3.227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821296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Fayalite Fe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4.402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492747"/>
                  </a:ext>
                </a:extLst>
              </a:tr>
              <a:tr h="202595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1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Organics, trace minerals, other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D9D9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630209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low-Ca pyroxene,  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Symbol Tiger" panose="05050102010706020507" pitchFamily="18" charset="2"/>
                        </a:rPr>
                        <a:t>»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Mg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1.84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Fe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0.16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Si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3.350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157386"/>
                  </a:ext>
                </a:extLst>
              </a:tr>
              <a:tr h="263149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Phosphates: MgHPO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∙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3H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O, amorphous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2.130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631233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Apatite, Ca</a:t>
                      </a:r>
                      <a:r>
                        <a:rPr lang="it-IT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5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(PO</a:t>
                      </a:r>
                      <a:r>
                        <a:rPr lang="it-IT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)</a:t>
                      </a:r>
                      <a:r>
                        <a:rPr lang="it-IT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(</a:t>
                      </a:r>
                      <a:r>
                        <a:rPr lang="it-IT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F,Cl,OH</a:t>
                      </a: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912575"/>
                  </a:ext>
                </a:extLst>
              </a:tr>
              <a:tr h="202595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nano-diamond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3.516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652624"/>
                  </a:ext>
                </a:extLst>
              </a:tr>
              <a:tr h="445709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Spinel, Magnesionchromite, Chromite  (Mg,Fe)(Al,Cr)</a:t>
                      </a:r>
                      <a:r>
                        <a:rPr lang="it-IT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</a:t>
                      </a:r>
                      <a:r>
                        <a:rPr lang="it-IT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 </a:t>
                      </a:r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80808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4.080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093046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Cubanite CuFe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4.024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754788"/>
                  </a:ext>
                </a:extLst>
              </a:tr>
              <a:tr h="253243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Chalcopyrite CuFeS</a:t>
                      </a:r>
                      <a:r>
                        <a:rPr lang="de-DE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4.100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473087"/>
                  </a:ext>
                </a:extLst>
              </a:tr>
              <a:tr h="192465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Organics IOM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4.90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1.300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939708"/>
                  </a:ext>
                </a:extLst>
              </a:tr>
              <a:tr h="192465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 (unknown/unidentified)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80808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2.800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480615"/>
                  </a:ext>
                </a:extLst>
              </a:tr>
              <a:tr h="202595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Total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100.00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26719"/>
                  </a:ext>
                </a:extLst>
              </a:tr>
            </a:tbl>
          </a:graphicData>
        </a:graphic>
      </p:graphicFrame>
      <p:sp>
        <p:nvSpPr>
          <p:cNvPr id="32" name="Content Placeholder 8">
            <a:extLst>
              <a:ext uri="{FF2B5EF4-FFF2-40B4-BE49-F238E27FC236}">
                <a16:creationId xmlns:a16="http://schemas.microsoft.com/office/drawing/2014/main" id="{FF3A24BB-E358-4CC3-ADD7-68271CF94333}"/>
              </a:ext>
            </a:extLst>
          </p:cNvPr>
          <p:cNvSpPr txBox="1">
            <a:spLocks/>
          </p:cNvSpPr>
          <p:nvPr/>
        </p:nvSpPr>
        <p:spPr>
          <a:xfrm>
            <a:off x="34259027" y="7015107"/>
            <a:ext cx="5257635" cy="6523473"/>
          </a:xfrm>
          <a:prstGeom prst="rect">
            <a:avLst/>
          </a:prstGeom>
        </p:spPr>
        <p:txBody>
          <a:bodyPr vert="horz" lIns="91440" tIns="182880" rIns="91440" bIns="45720" rtlCol="0">
            <a:normAutofit/>
          </a:bodyPr>
          <a:lstStyle>
            <a:lvl1pPr marL="45720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3200" kern="1200" baseline="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97280" indent="-457200" algn="l" defTabSz="438912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Table 1. Present estimation of absolute average mineral composition of </a:t>
            </a:r>
            <a:r>
              <a:rPr lang="en-US" sz="2400" dirty="0" err="1"/>
              <a:t>Bennu</a:t>
            </a:r>
            <a:r>
              <a:rPr lang="en-US" sz="2400" dirty="0"/>
              <a:t> including organics (IOM) material (estimation from organic C content and C mass fraction in organic matter, </a:t>
            </a:r>
            <a:r>
              <a:rPr lang="en-US" sz="2400" dirty="0" err="1"/>
              <a:t>Foustoukos</a:t>
            </a:r>
            <a:r>
              <a:rPr lang="en-US" sz="2400" dirty="0"/>
              <a:t> 2025). Once the phyllosilicate materials are more precisely determined, a theoretical </a:t>
            </a:r>
            <a:r>
              <a:rPr lang="en-US" sz="2400" dirty="0" err="1"/>
              <a:t>cP</a:t>
            </a:r>
            <a:r>
              <a:rPr lang="en-US" sz="2400" dirty="0"/>
              <a:t>(T) curve can be constructed and compared to experimental data.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55BDCE51-8EFF-4A41-8479-C68B6AB4D71D}"/>
              </a:ext>
            </a:extLst>
          </p:cNvPr>
          <p:cNvSpPr/>
          <p:nvPr/>
        </p:nvSpPr>
        <p:spPr>
          <a:xfrm>
            <a:off x="20767729" y="10766155"/>
            <a:ext cx="666427" cy="709912"/>
          </a:xfrm>
          <a:prstGeom prst="ellipse">
            <a:avLst/>
          </a:prstGeom>
          <a:solidFill>
            <a:srgbClr val="FFC0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000" dirty="0" err="1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7730200-BD52-4208-95F9-CECD211A4D4F}"/>
              </a:ext>
            </a:extLst>
          </p:cNvPr>
          <p:cNvSpPr txBox="1"/>
          <p:nvPr/>
        </p:nvSpPr>
        <p:spPr>
          <a:xfrm>
            <a:off x="20149910" y="9875581"/>
            <a:ext cx="1057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Verwey</a:t>
            </a:r>
            <a:r>
              <a:rPr lang="de-DE" sz="1600" dirty="0"/>
              <a:t> </a:t>
            </a:r>
            <a:r>
              <a:rPr lang="de-DE" sz="1600" dirty="0" err="1"/>
              <a:t>transition</a:t>
            </a:r>
            <a:endParaRPr lang="de-DE" sz="1600" dirty="0"/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C311E8BE-10D1-4679-9834-976C866F36B4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0666756" y="10520191"/>
            <a:ext cx="198569" cy="349928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217658"/>
      </p:ext>
    </p:extLst>
  </p:cSld>
  <p:clrMapOvr>
    <a:masterClrMapping/>
  </p:clrMapOvr>
</p:sld>
</file>

<file path=ppt/theme/theme1.xml><?xml version="1.0" encoding="utf-8"?>
<a:theme xmlns:a="http://schemas.openxmlformats.org/drawingml/2006/main" name="science project poster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6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6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ster Template_Landscape Orientation.44x36_" id="{6CEF4E85-AE11-DF44-BE7E-0EB2E09C55D6}" vid="{1EDEB322-679F-9748-AAB4-D911CD9F05FB}"/>
    </a:ext>
  </a:extLst>
</a:theme>
</file>

<file path=ppt/theme/theme2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9B7E175-EA31-4EB5-9BCC-A945A81036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Template_Landscape Orientation.44x36_</Template>
  <TotalTime>0</TotalTime>
  <Words>1916</Words>
  <Application>Microsoft Office PowerPoint</Application>
  <PresentationFormat>Benutzerdefiniert</PresentationFormat>
  <Paragraphs>180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Aptos Narrow</vt:lpstr>
      <vt:lpstr>Arial</vt:lpstr>
      <vt:lpstr>Calibri</vt:lpstr>
      <vt:lpstr>Calibri Light</vt:lpstr>
      <vt:lpstr>Symbol Tiger</vt:lpstr>
      <vt:lpstr>science project poster</vt:lpstr>
      <vt:lpstr>Equation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Biele, Jens</dc:creator>
  <cp:lastModifiedBy>Biele, Jens</cp:lastModifiedBy>
  <cp:revision>20</cp:revision>
  <dcterms:created xsi:type="dcterms:W3CDTF">2025-02-25T15:11:28Z</dcterms:created>
  <dcterms:modified xsi:type="dcterms:W3CDTF">2025-03-10T14:53:22Z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TC040013439991</vt:lpwstr>
  </property>
</Properties>
</file>